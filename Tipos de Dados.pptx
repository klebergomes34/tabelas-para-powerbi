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340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ção Padrão" id="{DC582A75-3F70-41A5-A56B-C648D41A5585}">
          <p14:sldIdLst>
            <p14:sldId id="256"/>
            <p14:sldId id="257"/>
            <p14:sldId id="340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5" roundtripDataSignature="AMtx7mj6ktcScMlDSR8eXVuJ//IcoyI3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85" Type="http://customschemas.google.com/relationships/presentationmetadata" Target="metadata"/><Relationship Id="rId3" Type="http://schemas.openxmlformats.org/officeDocument/2006/relationships/slide" Target="slides/slide2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884E7C9-A8AB-E69C-9F0A-461C91A3B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61C8A7B-93D2-C7A1-26ED-6D3A0DCEA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0FF4887-A287-A884-A58C-9F4492EC0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272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F7AC7C-6DD3-6828-DC29-7B3C38D67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5F0B557-A63B-52C6-B877-360405163A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EACF56D-3025-53A8-F96D-E6AE27CEA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1268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FEED952-E003-0E0A-D9E7-80AF2076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E967B35-5B6C-8B6E-083A-71E5E8CA7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199D213-D05D-C528-ED59-C8E6F132D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95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DED23B-1BAA-4C6F-712C-66C5A03A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1F3FB4D-E2B6-0766-F801-94EB9F4DC1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AE7E3F0-26FB-44C1-05ED-856897549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156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C3BCD0D-5457-20C4-4E13-4C494DD6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91C1F14-729A-EC6C-82BF-A50CE2E20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89AD98E-88EE-1BB8-8B95-24FEEF940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347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7830D0C-CC31-A258-7C30-8B81E401C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7E3B9CB-F410-7A41-8212-1EA6206CE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1E3D828-EB7C-BE13-0C33-822E37008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7392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0470B5C-8D43-EC2F-5393-28A55B92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0EFFC6-2ACF-5E6B-CFC2-ED15071F2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E01D618-5A56-0ACC-A5C6-580DC78AA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089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A940DE7-449D-EAEA-2B4A-FD46E80F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9AF27E7-7B7C-B7A4-5713-E6CE0AE80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5578FD0-FF84-FCDA-2DD2-E9BBD3EEB2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351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B00D39B-7A10-CC02-5FEB-31A5493F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A6E2B2C-2E9B-5A6F-5E61-9D49FF88C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06EF727-CB13-026F-2DFE-0B9A81B70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839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91D4319-AE48-3561-038C-74562CBBF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2C7B967B-0E9F-2FC6-507D-9DD4A157F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6DC9839-C6AE-4FD3-D49B-3CA4B96CC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481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73CDB0E-BF9B-9426-839C-680229B7A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B412717-5491-F7EB-FEAE-DD6D4B155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B34C5400-D728-9BBB-01FF-3FF7012F6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909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1BA946D-4219-0DAA-B0F4-75A1BDF0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0560CC1-98EC-CD8D-E46D-D8B3418FF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58854AAC-E342-E6D3-9B5D-37A4E01AA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4824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147C92F-8EF8-4777-AD0F-180ECD78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447CBC2-E76C-8C42-316D-7FC67D601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6395B152-AD28-DC8D-686B-5F3D7EC55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876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08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49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35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509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55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1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47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24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Imagem com Legenda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25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Título e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28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Texto e Título Vertical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pt-BR"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32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61067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>
            <p:extLst>
              <p:ext uri="{D42A27DB-BD31-4B8C-83A1-F6EECF244321}">
                <p14:modId xmlns:p14="http://schemas.microsoft.com/office/powerpoint/2010/main" val="2722832844"/>
              </p:ext>
            </p:extLst>
          </p:nvPr>
        </p:nvGraphicFramePr>
        <p:xfrm>
          <a:off x="-1" y="0"/>
          <a:ext cx="12192001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192001" imgH="6858000" progId="CorelDraw.Graphic.26">
                  <p:embed/>
                </p:oleObj>
              </mc:Choice>
              <mc:Fallback>
                <p:oleObj r:id="rId3" imgW="12192001" imgH="6858000" progId="CorelDraw.Graphic.26">
                  <p:embed/>
                  <p:pic>
                    <p:nvPicPr>
                      <p:cNvPr id="84" name="Google Shape;84;p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1" y="0"/>
                        <a:ext cx="12192001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Google Shape;85;p1"/>
          <p:cNvGraphicFramePr/>
          <p:nvPr/>
        </p:nvGraphicFramePr>
        <p:xfrm>
          <a:off x="7943125" y="6146862"/>
          <a:ext cx="42894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289425" imgH="754063" progId="CorelDraw.Graphic.26">
                  <p:embed/>
                </p:oleObj>
              </mc:Choice>
              <mc:Fallback>
                <p:oleObj r:id="rId5" imgW="4289425" imgH="754063" progId="CorelDraw.Graphic.26">
                  <p:embed/>
                  <p:pic>
                    <p:nvPicPr>
                      <p:cNvPr id="85" name="Google Shape;85;p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943125" y="6146862"/>
                        <a:ext cx="428942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Google Shape;86;p1"/>
          <p:cNvGraphicFramePr/>
          <p:nvPr/>
        </p:nvGraphicFramePr>
        <p:xfrm>
          <a:off x="10087837" y="142180"/>
          <a:ext cx="19653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965325" imgH="366713" progId="CorelDraw.Graphic.26">
                  <p:embed/>
                </p:oleObj>
              </mc:Choice>
              <mc:Fallback>
                <p:oleObj r:id="rId7" imgW="1965325" imgH="366713" progId="CorelDraw.Graphic.26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0087837" y="142180"/>
                        <a:ext cx="19653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" name="Google Shape;88;p1" title="FARDAMENTOS MPC 2026a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76776" y="1934775"/>
            <a:ext cx="3559652" cy="2825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5EB1DCFA-4038-81AF-3F0D-15490E3BC752}"/>
              </a:ext>
            </a:extLst>
          </p:cNvPr>
          <p:cNvSpPr/>
          <p:nvPr/>
        </p:nvSpPr>
        <p:spPr>
          <a:xfrm>
            <a:off x="6223819" y="2035216"/>
            <a:ext cx="566879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13462">
                  <a:solidFill>
                    <a:srgbClr val="FFFF00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Tipos de Dados “Excel e PowerBi”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5FBF58F7-F995-CF0F-D58B-DA1E3A95C18D}"/>
              </a:ext>
            </a:extLst>
          </p:cNvPr>
          <p:cNvGrpSpPr/>
          <p:nvPr/>
        </p:nvGrpSpPr>
        <p:grpSpPr>
          <a:xfrm>
            <a:off x="-34472" y="-77165"/>
            <a:ext cx="12260943" cy="7164721"/>
            <a:chOff x="-34472" y="-77165"/>
            <a:chExt cx="12260943" cy="7164721"/>
          </a:xfrm>
        </p:grpSpPr>
        <p:graphicFrame>
          <p:nvGraphicFramePr>
            <p:cNvPr id="93" name="Google Shape;93;p2"/>
            <p:cNvGraphicFramePr/>
            <p:nvPr>
              <p:extLst>
                <p:ext uri="{D42A27DB-BD31-4B8C-83A1-F6EECF244321}">
                  <p14:modId xmlns:p14="http://schemas.microsoft.com/office/powerpoint/2010/main" val="2257199781"/>
                </p:ext>
              </p:extLst>
            </p:nvPr>
          </p:nvGraphicFramePr>
          <p:xfrm>
            <a:off x="-34472" y="-77165"/>
            <a:ext cx="12260943" cy="7164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260943" imgH="7164721" progId="CorelDraw.Graphic.26">
                    <p:embed/>
                  </p:oleObj>
                </mc:Choice>
                <mc:Fallback>
                  <p:oleObj r:id="rId3" imgW="12260943" imgH="7164721" progId="CorelDraw.Graphic.26">
                    <p:embed/>
                    <p:pic>
                      <p:nvPicPr>
                        <p:cNvPr id="93" name="Google Shape;93;p2"/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-34472" y="-77165"/>
                          <a:ext cx="12260943" cy="71647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6" name="Google Shape;96;p2" title="Logo MPC 2026 CMYK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53189" y="672727"/>
              <a:ext cx="2832809" cy="778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125E2D-5C75-1A6D-DAE3-8586AE60015C}"/>
              </a:ext>
            </a:extLst>
          </p:cNvPr>
          <p:cNvSpPr txBox="1"/>
          <p:nvPr/>
        </p:nvSpPr>
        <p:spPr>
          <a:xfrm>
            <a:off x="658764" y="1228397"/>
            <a:ext cx="96749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002060"/>
                </a:solidFill>
                <a:highlight>
                  <a:srgbClr val="FFFF00"/>
                </a:highlight>
              </a:rPr>
              <a:t>Tipos de Dados no Excel e Google Planilhas</a:t>
            </a:r>
          </a:p>
          <a:p>
            <a:pPr>
              <a:buNone/>
            </a:pPr>
            <a:r>
              <a:rPr lang="pt-BR" sz="2800" b="1" dirty="0">
                <a:solidFill>
                  <a:srgbClr val="002060"/>
                </a:solidFill>
                <a:highlight>
                  <a:srgbClr val="FFFF00"/>
                </a:highlight>
              </a:rPr>
              <a:t>Objetivo da aula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b="1" dirty="0"/>
              <a:t>Ao final desta aula você será capaz de:</a:t>
            </a:r>
          </a:p>
          <a:p>
            <a:pPr>
              <a:buNone/>
            </a:pPr>
            <a:endParaRPr lang="pt-BR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Identificar os principais tipos de dados.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Utilizar cada tipo corretamente.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Evitar erros em cálculos e análises.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Compreender como a organização dos dados melhora o desempenho da planilha.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E25F0B2-9311-21B2-66A9-0F0E19B4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65C4C272-07AC-264A-1D8B-A3C2F7E365C9}"/>
              </a:ext>
            </a:extLst>
          </p:cNvPr>
          <p:cNvGrpSpPr/>
          <p:nvPr/>
        </p:nvGrpSpPr>
        <p:grpSpPr>
          <a:xfrm>
            <a:off x="-34472" y="-77165"/>
            <a:ext cx="12260943" cy="7164721"/>
            <a:chOff x="-34472" y="-77165"/>
            <a:chExt cx="12260943" cy="7164721"/>
          </a:xfrm>
        </p:grpSpPr>
        <p:graphicFrame>
          <p:nvGraphicFramePr>
            <p:cNvPr id="93" name="Google Shape;93;p2">
              <a:extLst>
                <a:ext uri="{FF2B5EF4-FFF2-40B4-BE49-F238E27FC236}">
                  <a16:creationId xmlns:a16="http://schemas.microsoft.com/office/drawing/2014/main" id="{2F0B22B1-7D88-C563-8425-E527593BD4D2}"/>
                </a:ext>
              </a:extLst>
            </p:cNvPr>
            <p:cNvGraphicFramePr/>
            <p:nvPr/>
          </p:nvGraphicFramePr>
          <p:xfrm>
            <a:off x="-34472" y="-77165"/>
            <a:ext cx="12260943" cy="7164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260943" imgH="7164721" progId="CorelDraw.Graphic.26">
                    <p:embed/>
                  </p:oleObj>
                </mc:Choice>
                <mc:Fallback>
                  <p:oleObj r:id="rId3" imgW="12260943" imgH="7164721" progId="CorelDraw.Graphic.26">
                    <p:embed/>
                    <p:pic>
                      <p:nvPicPr>
                        <p:cNvPr id="93" name="Google Shape;93;p2"/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-34472" y="-77165"/>
                          <a:ext cx="12260943" cy="71647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6" name="Google Shape;96;p2" title="Logo MPC 2026 CMYK.png">
              <a:extLst>
                <a:ext uri="{FF2B5EF4-FFF2-40B4-BE49-F238E27FC236}">
                  <a16:creationId xmlns:a16="http://schemas.microsoft.com/office/drawing/2014/main" id="{56121525-07C6-F8F9-A5E5-E369ECAA954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553189" y="672727"/>
              <a:ext cx="2832809" cy="778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D845E8-DFC6-5C58-3722-F0DDE3E82CBA}"/>
              </a:ext>
            </a:extLst>
          </p:cNvPr>
          <p:cNvSpPr txBox="1"/>
          <p:nvPr/>
        </p:nvSpPr>
        <p:spPr>
          <a:xfrm>
            <a:off x="993059" y="1320730"/>
            <a:ext cx="841641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002060"/>
                </a:solidFill>
                <a:highlight>
                  <a:srgbClr val="FFFF00"/>
                </a:highlight>
              </a:rPr>
              <a:t>O QUE SÃO TIPOS DE DADOS?</a:t>
            </a:r>
          </a:p>
          <a:p>
            <a:pPr>
              <a:buNone/>
            </a:pPr>
            <a:endParaRPr lang="pt-BR" sz="2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pt-BR" sz="2000" dirty="0"/>
              <a:t>Toda informação inserida em uma planilha possui um tipo de dado.</a:t>
            </a:r>
          </a:p>
          <a:p>
            <a:pPr>
              <a:buNone/>
            </a:pPr>
            <a:r>
              <a:rPr lang="pt-BR" sz="2000" dirty="0"/>
              <a:t>O Excel e o Google Planilhas utilizam essa informação para interpretar corretamente os dados e realizar cálculos, gráficos e análises.</a:t>
            </a:r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000" b="1" dirty="0"/>
              <a:t>Exemplos</a:t>
            </a:r>
          </a:p>
          <a:p>
            <a:pPr>
              <a:buNone/>
            </a:pPr>
            <a:r>
              <a:rPr lang="pt-BR" sz="2000" dirty="0"/>
              <a:t>📝 Texto → Nome de clientes, Produtos</a:t>
            </a:r>
          </a:p>
          <a:p>
            <a:pPr>
              <a:buNone/>
            </a:pPr>
            <a:r>
              <a:rPr lang="pt-BR" sz="2000" dirty="0"/>
              <a:t>🔢 Número → Quantidade de produtos</a:t>
            </a:r>
          </a:p>
          <a:p>
            <a:pPr>
              <a:buNone/>
            </a:pPr>
            <a:r>
              <a:rPr lang="pt-BR" sz="2000" dirty="0"/>
              <a:t>📅 Data → Data da venda</a:t>
            </a:r>
          </a:p>
          <a:p>
            <a:pPr>
              <a:buNone/>
            </a:pPr>
            <a:r>
              <a:rPr lang="pt-BR" sz="2000" dirty="0"/>
              <a:t>💰 Moeda → Valor do produto</a:t>
            </a:r>
          </a:p>
          <a:p>
            <a:pPr>
              <a:buNone/>
            </a:pPr>
            <a:r>
              <a:rPr lang="pt-BR" sz="2000" dirty="0"/>
              <a:t>📈 Porcentagem → Desconto</a:t>
            </a:r>
          </a:p>
          <a:p>
            <a:pPr>
              <a:buNone/>
            </a:pPr>
            <a:r>
              <a:rPr lang="pt-BR" sz="2000" dirty="0"/>
              <a:t>🕒 Hora → Horário de entrada</a:t>
            </a:r>
          </a:p>
        </p:txBody>
      </p:sp>
    </p:spTree>
    <p:extLst>
      <p:ext uri="{BB962C8B-B14F-4D97-AF65-F5344CB8AC3E}">
        <p14:creationId xmlns:p14="http://schemas.microsoft.com/office/powerpoint/2010/main" val="215538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/>
          <p:cNvGraphicFramePr/>
          <p:nvPr>
            <p:extLst>
              <p:ext uri="{D42A27DB-BD31-4B8C-83A1-F6EECF244321}">
                <p14:modId xmlns:p14="http://schemas.microsoft.com/office/powerpoint/2010/main" val="3342450828"/>
              </p:ext>
            </p:extLst>
          </p:nvPr>
        </p:nvGraphicFramePr>
        <p:xfrm>
          <a:off x="-34925" y="-42386"/>
          <a:ext cx="12261850" cy="716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-34925" y="-42386"/>
                        <a:ext cx="12261850" cy="716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A788A4-EF35-4980-0DB7-42ECF3FC1945}"/>
              </a:ext>
            </a:extLst>
          </p:cNvPr>
          <p:cNvSpPr txBox="1"/>
          <p:nvPr/>
        </p:nvSpPr>
        <p:spPr>
          <a:xfrm>
            <a:off x="806002" y="632112"/>
            <a:ext cx="664685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>
                <a:solidFill>
                  <a:srgbClr val="002060"/>
                </a:solidFill>
                <a:highlight>
                  <a:srgbClr val="FFFF00"/>
                </a:highlight>
              </a:rPr>
              <a:t>TEXTO</a:t>
            </a:r>
          </a:p>
          <a:p>
            <a:pPr>
              <a:buNone/>
            </a:pPr>
            <a:endParaRPr lang="pt-BR" sz="1800" b="1" dirty="0"/>
          </a:p>
          <a:p>
            <a:pPr>
              <a:buNone/>
            </a:pPr>
            <a:r>
              <a:rPr lang="pt-BR" sz="2000" b="1" dirty="0"/>
              <a:t>Quando utilizar</a:t>
            </a:r>
          </a:p>
          <a:p>
            <a:pPr>
              <a:buNone/>
            </a:pPr>
            <a:endParaRPr lang="pt-BR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Nome de clientes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Produtos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Cidade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Endereço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CPF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Código de barras </a:t>
            </a:r>
          </a:p>
          <a:p>
            <a:endParaRPr lang="pt-BR" sz="1800" dirty="0"/>
          </a:p>
          <a:p>
            <a:pPr>
              <a:buNone/>
            </a:pPr>
            <a:r>
              <a:rPr lang="pt-BR" sz="1800" b="1" dirty="0"/>
              <a:t>Exemplo</a:t>
            </a:r>
          </a:p>
          <a:p>
            <a:pPr>
              <a:buNone/>
            </a:pPr>
            <a:r>
              <a:rPr lang="pt-BR" sz="1800" b="1" dirty="0"/>
              <a:t>Evite</a:t>
            </a:r>
          </a:p>
          <a:p>
            <a:pPr>
              <a:buNone/>
            </a:pPr>
            <a:r>
              <a:rPr lang="pt-BR" sz="1800" dirty="0"/>
              <a:t>❌ Utilizar texto para valores que serão calculados.</a:t>
            </a:r>
          </a:p>
          <a:p>
            <a:pPr>
              <a:buNone/>
            </a:pPr>
            <a:r>
              <a:rPr lang="pt-BR" sz="1800" dirty="0"/>
              <a:t>Exemplo:</a:t>
            </a:r>
          </a:p>
          <a:p>
            <a:pPr>
              <a:buNone/>
            </a:pPr>
            <a:r>
              <a:rPr lang="pt-BR" sz="1800" dirty="0"/>
              <a:t>"150"</a:t>
            </a:r>
          </a:p>
          <a:p>
            <a:pPr>
              <a:buNone/>
            </a:pPr>
            <a:r>
              <a:rPr lang="pt-BR" sz="1800" dirty="0"/>
              <a:t>Ao invés de</a:t>
            </a:r>
          </a:p>
          <a:p>
            <a:pPr>
              <a:buNone/>
            </a:pPr>
            <a:r>
              <a:rPr lang="pt-BR" sz="1800" dirty="0"/>
              <a:t>150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87D566-1F42-51B3-C5F9-A92A9FAC5421}"/>
              </a:ext>
            </a:extLst>
          </p:cNvPr>
          <p:cNvSpPr txBox="1"/>
          <p:nvPr/>
        </p:nvSpPr>
        <p:spPr>
          <a:xfrm>
            <a:off x="4395019" y="2510719"/>
            <a:ext cx="3991897" cy="1107996"/>
          </a:xfrm>
          <a:prstGeom prst="rect">
            <a:avLst/>
          </a:prstGeom>
          <a:scene3d>
            <a:camera prst="isometricOffAxis1Right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2060"/>
                </a:solidFill>
              </a:rPr>
              <a:t>ABCDEF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95F349-039A-1166-C0E1-724F0257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7C01C6BF-7031-252A-3E7E-7D463FE04759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B7AB145A-3607-81E5-35A6-7B449DE0E6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1903717-9B99-27D1-E3DE-5403EDFEC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170442"/>
              </p:ext>
            </p:extLst>
          </p:nvPr>
        </p:nvGraphicFramePr>
        <p:xfrm>
          <a:off x="945013" y="3288077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911619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796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Produto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Quantidade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25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96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Teclado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70709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F3D588F7-D1B5-F372-68A0-852ACC423EA3}"/>
              </a:ext>
            </a:extLst>
          </p:cNvPr>
          <p:cNvSpPr txBox="1"/>
          <p:nvPr/>
        </p:nvSpPr>
        <p:spPr>
          <a:xfrm>
            <a:off x="945013" y="554819"/>
            <a:ext cx="7845026" cy="5466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 dirty="0">
                <a:solidFill>
                  <a:srgbClr val="7030A0"/>
                </a:solidFill>
                <a:highlight>
                  <a:srgbClr val="FFFF00"/>
                </a:highlight>
              </a:rPr>
              <a:t>Número</a:t>
            </a:r>
            <a:endParaRPr lang="pt-BR" b="1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Quando utilizar</a:t>
            </a:r>
          </a:p>
          <a:p>
            <a:pPr>
              <a:buNone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Quantidade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Idade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Estoque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Notas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Peso 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b="1" dirty="0"/>
              <a:t>Exemplo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Atenção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Nem todo número deve ser armazenado como número.</a:t>
            </a:r>
          </a:p>
          <a:p>
            <a:pPr>
              <a:buNone/>
            </a:pPr>
            <a:r>
              <a:rPr lang="pt-BR" dirty="0"/>
              <a:t>CPF, CEP e telefone normalmente devem ser armazenados como </a:t>
            </a:r>
            <a:r>
              <a:rPr lang="pt-BR" b="1" dirty="0"/>
              <a:t>Texto</a:t>
            </a:r>
            <a:r>
              <a:rPr lang="pt-BR" dirty="0"/>
              <a:t>, pois não são utilizados em cálculos e podem perder zeros à esquerda.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37C688-C350-CD7C-2A29-09626A4DE449}"/>
              </a:ext>
            </a:extLst>
          </p:cNvPr>
          <p:cNvSpPr txBox="1"/>
          <p:nvPr/>
        </p:nvSpPr>
        <p:spPr>
          <a:xfrm>
            <a:off x="3176784" y="1720883"/>
            <a:ext cx="6203190" cy="1323439"/>
          </a:xfrm>
          <a:prstGeom prst="rect">
            <a:avLst/>
          </a:prstGeom>
          <a:noFill/>
          <a:scene3d>
            <a:camera prst="perspectiveContrastingLeftFacing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pt-BR" sz="8000" b="1" dirty="0">
                <a:solidFill>
                  <a:srgbClr val="FFC000"/>
                </a:solidFill>
              </a:rPr>
              <a:t>12345</a:t>
            </a:r>
          </a:p>
        </p:txBody>
      </p:sp>
    </p:spTree>
    <p:extLst>
      <p:ext uri="{BB962C8B-B14F-4D97-AF65-F5344CB8AC3E}">
        <p14:creationId xmlns:p14="http://schemas.microsoft.com/office/powerpoint/2010/main" val="1483019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C83E2CB-A966-F876-C220-66F2F6A22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EDAE688F-30EA-F2C2-6D84-8D224550D8CC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7C01C6BF-7031-252A-3E7E-7D463FE04759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99C4F826-00D2-9898-4222-6A49EB70879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29494FB-811F-CB49-93AE-202C8F77D1CE}"/>
              </a:ext>
            </a:extLst>
          </p:cNvPr>
          <p:cNvSpPr txBox="1"/>
          <p:nvPr/>
        </p:nvSpPr>
        <p:spPr>
          <a:xfrm>
            <a:off x="1022555" y="582431"/>
            <a:ext cx="968477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>
                <a:solidFill>
                  <a:srgbClr val="7030A0"/>
                </a:solidFill>
                <a:highlight>
                  <a:srgbClr val="FFFF00"/>
                </a:highlight>
              </a:rPr>
              <a:t>Data</a:t>
            </a:r>
          </a:p>
          <a:p>
            <a:pPr>
              <a:buNone/>
            </a:pPr>
            <a:endParaRPr lang="pt-BR" sz="2400" b="1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pt-BR" sz="1800" b="1" dirty="0"/>
              <a:t>Quando utilizar</a:t>
            </a:r>
          </a:p>
          <a:p>
            <a:pPr>
              <a:buNone/>
            </a:pPr>
            <a:endParaRPr lang="pt-BR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Vendas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Vencimentos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Contratos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Nascimento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Entregas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dirty="0"/>
          </a:p>
          <a:p>
            <a:pPr>
              <a:buNone/>
            </a:pPr>
            <a:r>
              <a:rPr lang="pt-BR" sz="1800" b="1" dirty="0"/>
              <a:t>Exemplo</a:t>
            </a:r>
          </a:p>
          <a:p>
            <a:pPr>
              <a:buNone/>
            </a:pPr>
            <a:r>
              <a:rPr lang="pt-BR" sz="1800" dirty="0"/>
              <a:t>15/08/2026</a:t>
            </a:r>
          </a:p>
          <a:p>
            <a:pPr>
              <a:buNone/>
            </a:pPr>
            <a:endParaRPr lang="pt-BR" sz="1800" dirty="0"/>
          </a:p>
          <a:p>
            <a:pPr>
              <a:buNone/>
            </a:pPr>
            <a:r>
              <a:rPr lang="pt-BR" sz="1800" b="1" dirty="0"/>
              <a:t>Evite</a:t>
            </a:r>
          </a:p>
          <a:p>
            <a:pPr>
              <a:buNone/>
            </a:pPr>
            <a:r>
              <a:rPr lang="pt-BR" sz="1800" dirty="0"/>
              <a:t>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Agosto 15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15 agosto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15-08-26 (quando não reconhecido como data)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800" dirty="0"/>
          </a:p>
          <a:p>
            <a:pPr>
              <a:buNone/>
            </a:pPr>
            <a:r>
              <a:rPr lang="pt-BR" sz="1800" dirty="0"/>
              <a:t>Isso pode impedir ordenações e cálculos corretamente.</a:t>
            </a:r>
          </a:p>
        </p:txBody>
      </p:sp>
      <p:pic>
        <p:nvPicPr>
          <p:cNvPr id="5" name="Gráfico 4" descr="Calendário diário com preenchimento sólido">
            <a:extLst>
              <a:ext uri="{FF2B5EF4-FFF2-40B4-BE49-F238E27FC236}">
                <a16:creationId xmlns:a16="http://schemas.microsoft.com/office/drawing/2014/main" id="{E144C4A5-6FEA-5931-7D76-D6A562C10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5748" y="1451477"/>
            <a:ext cx="3318387" cy="331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5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CF0E9DF-F035-4B70-408D-7EDD615E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8B407506-D5D4-D6B6-F904-3D1F5BFE0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1483020"/>
              </p:ext>
            </p:extLst>
          </p:nvPr>
        </p:nvGraphicFramePr>
        <p:xfrm>
          <a:off x="-34132" y="-306388"/>
          <a:ext cx="12260263" cy="716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EDAE688F-30EA-F2C2-6D84-8D224550D8CC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-34132" y="-306388"/>
                        <a:ext cx="12260263" cy="716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8EF3539E-79D8-5CDF-651F-7219B21BED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956A03A-CAAC-1929-6A8A-22DAEB560241}"/>
              </a:ext>
            </a:extLst>
          </p:cNvPr>
          <p:cNvSpPr txBox="1"/>
          <p:nvPr/>
        </p:nvSpPr>
        <p:spPr>
          <a:xfrm>
            <a:off x="1494504" y="1371538"/>
            <a:ext cx="412954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u="sng" dirty="0">
                <a:solidFill>
                  <a:srgbClr val="7030A0"/>
                </a:solidFill>
                <a:highlight>
                  <a:srgbClr val="FFFF00"/>
                </a:highlight>
              </a:rPr>
              <a:t>Moeda</a:t>
            </a:r>
          </a:p>
          <a:p>
            <a:pPr>
              <a:buNone/>
            </a:pPr>
            <a:endParaRPr lang="pt-BR" sz="2400" b="1" dirty="0"/>
          </a:p>
          <a:p>
            <a:pPr>
              <a:buNone/>
            </a:pPr>
            <a:r>
              <a:rPr lang="pt-BR" sz="1600" b="1" u="sng" dirty="0"/>
              <a:t>Quando utilizar</a:t>
            </a:r>
          </a:p>
          <a:p>
            <a:pPr>
              <a:buNone/>
            </a:pPr>
            <a:endParaRPr lang="pt-BR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Salários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Custos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Receitas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Despesas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Lucro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/>
          </a:p>
          <a:p>
            <a:pPr>
              <a:buNone/>
            </a:pPr>
            <a:r>
              <a:rPr lang="pt-BR" sz="1600" b="1" u="sng" dirty="0"/>
              <a:t>Exemplo</a:t>
            </a:r>
          </a:p>
          <a:p>
            <a:pPr>
              <a:buNone/>
            </a:pPr>
            <a:r>
              <a:rPr lang="pt-BR" sz="1600" dirty="0"/>
              <a:t>R$ 2.500,00</a:t>
            </a:r>
          </a:p>
          <a:p>
            <a:pPr>
              <a:buNone/>
            </a:pPr>
            <a:endParaRPr lang="pt-BR" sz="1600" dirty="0"/>
          </a:p>
          <a:p>
            <a:pPr>
              <a:buNone/>
            </a:pPr>
            <a:r>
              <a:rPr lang="pt-BR" sz="1600" b="1" u="sng" dirty="0"/>
              <a:t>Boa prática</a:t>
            </a:r>
          </a:p>
          <a:p>
            <a:pPr>
              <a:buNone/>
            </a:pPr>
            <a:r>
              <a:rPr lang="pt-BR" sz="1600" dirty="0"/>
              <a:t>Utilize a formatação </a:t>
            </a:r>
            <a:r>
              <a:rPr lang="pt-BR" sz="1600" b="1" dirty="0"/>
              <a:t>Moeda</a:t>
            </a:r>
            <a:r>
              <a:rPr lang="pt-BR" sz="1600" dirty="0"/>
              <a:t> ou </a:t>
            </a:r>
            <a:r>
              <a:rPr lang="pt-BR" sz="1600" b="1" dirty="0"/>
              <a:t>Contábil</a:t>
            </a:r>
            <a:r>
              <a:rPr lang="pt-BR" sz="1600" dirty="0"/>
              <a:t>.</a:t>
            </a:r>
          </a:p>
          <a:p>
            <a:pPr>
              <a:buNone/>
            </a:pPr>
            <a:r>
              <a:rPr lang="pt-BR" sz="1600" dirty="0"/>
              <a:t>Não digite "R$" manualmente.</a:t>
            </a:r>
          </a:p>
        </p:txBody>
      </p:sp>
      <p:pic>
        <p:nvPicPr>
          <p:cNvPr id="5" name="Gráfico 4" descr="Dinheiro com preenchimento sólido">
            <a:extLst>
              <a:ext uri="{FF2B5EF4-FFF2-40B4-BE49-F238E27FC236}">
                <a16:creationId xmlns:a16="http://schemas.microsoft.com/office/drawing/2014/main" id="{7DDF2221-8F2B-D106-B7BD-43C6613E5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0906" y="843115"/>
            <a:ext cx="2330187" cy="2330187"/>
          </a:xfrm>
          <a:prstGeom prst="rect">
            <a:avLst/>
          </a:prstGeom>
        </p:spPr>
      </p:pic>
      <p:pic>
        <p:nvPicPr>
          <p:cNvPr id="7" name="Gráfico 6" descr="Dólar com preenchimento sólido">
            <a:extLst>
              <a:ext uri="{FF2B5EF4-FFF2-40B4-BE49-F238E27FC236}">
                <a16:creationId xmlns:a16="http://schemas.microsoft.com/office/drawing/2014/main" id="{67CC3012-E278-3623-9914-C0B1C71C1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1762" y="3087387"/>
            <a:ext cx="2330187" cy="233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16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3395C04-07CF-5E7D-DFCA-64D1F20F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02CDD844-2568-898A-DE8B-0F4B6D6D41FB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8B407506-D5D4-D6B6-F904-3D1F5BFE06ED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AFF884C6-8F34-85EF-3D38-872C036937C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E7BEC52-A3D6-70B7-FCAC-B778524A4358}"/>
              </a:ext>
            </a:extLst>
          </p:cNvPr>
          <p:cNvSpPr txBox="1"/>
          <p:nvPr/>
        </p:nvSpPr>
        <p:spPr>
          <a:xfrm>
            <a:off x="1789473" y="1012954"/>
            <a:ext cx="31856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u="sng" dirty="0">
                <a:solidFill>
                  <a:srgbClr val="7030A0"/>
                </a:solidFill>
                <a:highlight>
                  <a:srgbClr val="FFFF00"/>
                </a:highlight>
              </a:rPr>
              <a:t>Porcentagem</a:t>
            </a:r>
            <a:endParaRPr lang="pt-BR" b="1" u="sng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sz="1600" b="1" dirty="0"/>
              <a:t>Quando utilizar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Descontos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Comissão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Impostos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Juros 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/>
          </a:p>
          <a:p>
            <a:pPr>
              <a:buNone/>
            </a:pPr>
            <a:r>
              <a:rPr lang="pt-BR" sz="1600" b="1" dirty="0"/>
              <a:t>Exemplo</a:t>
            </a:r>
          </a:p>
          <a:p>
            <a:pPr>
              <a:buNone/>
            </a:pPr>
            <a:r>
              <a:rPr lang="pt-BR" sz="1600" dirty="0"/>
              <a:t>10%</a:t>
            </a:r>
          </a:p>
          <a:p>
            <a:pPr>
              <a:buNone/>
            </a:pPr>
            <a:r>
              <a:rPr lang="pt-BR" sz="1600" dirty="0"/>
              <a:t>25%</a:t>
            </a:r>
          </a:p>
          <a:p>
            <a:pPr>
              <a:buNone/>
            </a:pPr>
            <a:r>
              <a:rPr lang="pt-BR" sz="1600" dirty="0"/>
              <a:t>50%</a:t>
            </a:r>
          </a:p>
          <a:p>
            <a:pPr>
              <a:buNone/>
            </a:pPr>
            <a:endParaRPr lang="pt-BR" sz="1600" dirty="0"/>
          </a:p>
          <a:p>
            <a:pPr>
              <a:buNone/>
            </a:pPr>
            <a:r>
              <a:rPr lang="pt-BR" sz="1600" b="1" dirty="0"/>
              <a:t>Erro comum</a:t>
            </a:r>
          </a:p>
          <a:p>
            <a:pPr>
              <a:buNone/>
            </a:pPr>
            <a:r>
              <a:rPr lang="pt-BR" sz="1600" dirty="0"/>
              <a:t>Digitar:</a:t>
            </a:r>
          </a:p>
          <a:p>
            <a:pPr>
              <a:buNone/>
            </a:pPr>
            <a:r>
              <a:rPr lang="pt-BR" sz="1600" dirty="0"/>
              <a:t>10</a:t>
            </a:r>
          </a:p>
          <a:p>
            <a:pPr>
              <a:buNone/>
            </a:pPr>
            <a:r>
              <a:rPr lang="pt-BR" sz="1600" dirty="0"/>
              <a:t>Ao invés de</a:t>
            </a:r>
          </a:p>
          <a:p>
            <a:pPr>
              <a:buNone/>
            </a:pPr>
            <a:r>
              <a:rPr lang="pt-BR" sz="1600" dirty="0"/>
              <a:t>10%</a:t>
            </a:r>
          </a:p>
          <a:p>
            <a:pPr>
              <a:buNone/>
            </a:pPr>
            <a:r>
              <a:rPr lang="pt-BR" sz="1600" dirty="0"/>
              <a:t>Pode gerar cálculos incorretos</a:t>
            </a:r>
            <a:r>
              <a:rPr lang="pt-BR" dirty="0"/>
              <a:t>.</a:t>
            </a:r>
          </a:p>
        </p:txBody>
      </p:sp>
      <p:pic>
        <p:nvPicPr>
          <p:cNvPr id="5" name="Gráfico 4" descr="Uma calculadora">
            <a:extLst>
              <a:ext uri="{FF2B5EF4-FFF2-40B4-BE49-F238E27FC236}">
                <a16:creationId xmlns:a16="http://schemas.microsoft.com/office/drawing/2014/main" id="{B2A6D13C-D31B-DFB0-9900-1F0B60A89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7969" y="904567"/>
            <a:ext cx="5048865" cy="5048865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88379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685BDC0-CA5F-054C-2765-45CC5105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AF786F68-E0C1-87F6-CAA1-D7C0529747C9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02CDD844-2568-898A-DE8B-0F4B6D6D41FB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0378FF0B-8EF3-C200-76DA-7B88F0FEF5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CDF5FA4-8CAA-F1BC-76A2-FCCD9FEC7C54}"/>
              </a:ext>
            </a:extLst>
          </p:cNvPr>
          <p:cNvSpPr txBox="1"/>
          <p:nvPr/>
        </p:nvSpPr>
        <p:spPr>
          <a:xfrm>
            <a:off x="1494261" y="1366684"/>
            <a:ext cx="635925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Hora</a:t>
            </a:r>
          </a:p>
          <a:p>
            <a:pPr>
              <a:buNone/>
            </a:pPr>
            <a:endParaRPr lang="pt-BR" sz="3200" b="1" u="sng" dirty="0">
              <a:solidFill>
                <a:srgbClr val="002060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pt-BR" sz="2000" b="1" dirty="0"/>
              <a:t>Quando utilizar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Controle de ponto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Agenda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Horários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Escalas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 </a:t>
            </a:r>
          </a:p>
          <a:p>
            <a:pPr>
              <a:buNone/>
            </a:pPr>
            <a:r>
              <a:rPr lang="pt-BR" sz="2000" b="1" dirty="0"/>
              <a:t>Exemplo</a:t>
            </a:r>
          </a:p>
          <a:p>
            <a:pPr>
              <a:buNone/>
            </a:pPr>
            <a:r>
              <a:rPr lang="pt-BR" sz="2000" dirty="0"/>
              <a:t>08:00</a:t>
            </a:r>
          </a:p>
          <a:p>
            <a:pPr>
              <a:buNone/>
            </a:pPr>
            <a:r>
              <a:rPr lang="pt-BR" sz="2000" dirty="0"/>
              <a:t>17:30</a:t>
            </a:r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000" dirty="0"/>
              <a:t>Permite calcular automaticamente horas trabalhadas</a:t>
            </a:r>
            <a:r>
              <a:rPr lang="pt-BR" sz="1600" dirty="0"/>
              <a:t>.</a:t>
            </a:r>
          </a:p>
        </p:txBody>
      </p:sp>
      <p:pic>
        <p:nvPicPr>
          <p:cNvPr id="5" name="Gráfico 4" descr="Relógio com preenchimento sólido">
            <a:extLst>
              <a:ext uri="{FF2B5EF4-FFF2-40B4-BE49-F238E27FC236}">
                <a16:creationId xmlns:a16="http://schemas.microsoft.com/office/drawing/2014/main" id="{DFB58C88-6F87-E325-9D7B-E538C21136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4040" y="1284329"/>
            <a:ext cx="3723969" cy="372396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06654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562A4A3-16CB-9C32-2F56-8DF6285C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EF710F66-C330-B70A-AADB-17263FC70A27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AF786F68-E0C1-87F6-CAA1-D7C0529747C9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7D302619-7C37-23B1-8518-B415A802A5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CF25CA38-C6CC-87CA-D2AD-28ACF76C8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980190"/>
              </p:ext>
            </p:extLst>
          </p:nvPr>
        </p:nvGraphicFramePr>
        <p:xfrm>
          <a:off x="1211826" y="2674979"/>
          <a:ext cx="10515600" cy="11887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710552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4180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Produto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680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Mouse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"150"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685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Teclado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252653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DFB88849-C7E0-F312-66EA-3F0AAFDDA29F}"/>
              </a:ext>
            </a:extLst>
          </p:cNvPr>
          <p:cNvSpPr txBox="1"/>
          <p:nvPr/>
        </p:nvSpPr>
        <p:spPr>
          <a:xfrm>
            <a:off x="1120877" y="1132062"/>
            <a:ext cx="822959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Erros que podem causar prejuízo</a:t>
            </a:r>
          </a:p>
          <a:p>
            <a:pPr>
              <a:buNone/>
            </a:pPr>
            <a:endParaRPr lang="pt-BR" b="1" dirty="0">
              <a:solidFill>
                <a:srgbClr val="002060"/>
              </a:solidFill>
            </a:endParaRPr>
          </a:p>
          <a:p>
            <a:pPr>
              <a:buNone/>
            </a:pPr>
            <a:endParaRPr lang="pt-BR" sz="1800" b="1" dirty="0"/>
          </a:p>
          <a:p>
            <a:pPr>
              <a:buNone/>
            </a:pPr>
            <a:r>
              <a:rPr lang="pt-BR" sz="1800" b="1" dirty="0"/>
              <a:t>Exemplo 1</a:t>
            </a:r>
          </a:p>
          <a:p>
            <a:pPr>
              <a:buNone/>
            </a:pPr>
            <a:r>
              <a:rPr lang="pt-BR" sz="1800" dirty="0"/>
              <a:t>Valor armazenado como texto</a:t>
            </a:r>
          </a:p>
          <a:p>
            <a:pPr>
              <a:buNone/>
            </a:pPr>
            <a:endParaRPr lang="pt-BR" sz="1800" dirty="0"/>
          </a:p>
          <a:p>
            <a:pPr>
              <a:buNone/>
            </a:pPr>
            <a:endParaRPr lang="pt-BR" sz="1800" dirty="0"/>
          </a:p>
          <a:p>
            <a:pPr>
              <a:buNone/>
            </a:pPr>
            <a:endParaRPr lang="pt-BR" sz="1800" dirty="0"/>
          </a:p>
          <a:p>
            <a:pPr>
              <a:buNone/>
            </a:pPr>
            <a:endParaRPr lang="pt-BR" sz="1800" dirty="0"/>
          </a:p>
          <a:p>
            <a:pPr>
              <a:buNone/>
            </a:pPr>
            <a:endParaRPr lang="pt-BR" sz="1800" dirty="0"/>
          </a:p>
          <a:p>
            <a:pPr>
              <a:buNone/>
            </a:pPr>
            <a:r>
              <a:rPr lang="pt-BR" sz="1800" dirty="0"/>
              <a:t>=SOMA()</a:t>
            </a:r>
          </a:p>
          <a:p>
            <a:pPr>
              <a:buNone/>
            </a:pPr>
            <a:r>
              <a:rPr lang="pt-BR" sz="1800" dirty="0"/>
              <a:t>Resultado esperado:</a:t>
            </a:r>
          </a:p>
          <a:p>
            <a:pPr>
              <a:buNone/>
            </a:pPr>
            <a:r>
              <a:rPr lang="pt-BR" sz="1800" dirty="0"/>
              <a:t>350</a:t>
            </a:r>
          </a:p>
          <a:p>
            <a:pPr>
              <a:buNone/>
            </a:pPr>
            <a:r>
              <a:rPr lang="pt-BR" sz="1800" dirty="0"/>
              <a:t>Resultado obtido:</a:t>
            </a:r>
          </a:p>
          <a:p>
            <a:pPr>
              <a:buNone/>
            </a:pPr>
            <a:r>
              <a:rPr lang="pt-BR" sz="1800" dirty="0"/>
              <a:t>200</a:t>
            </a:r>
          </a:p>
          <a:p>
            <a:pPr>
              <a:buNone/>
            </a:pPr>
            <a:r>
              <a:rPr lang="pt-BR" sz="1800" dirty="0"/>
              <a:t>➡ O Excel pode ignorar valores armazenados como texto.</a:t>
            </a:r>
          </a:p>
        </p:txBody>
      </p:sp>
    </p:spTree>
    <p:extLst>
      <p:ext uri="{BB962C8B-B14F-4D97-AF65-F5344CB8AC3E}">
        <p14:creationId xmlns:p14="http://schemas.microsoft.com/office/powerpoint/2010/main" val="3295956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9E7CD1E-959B-2048-EB9F-56DACBEA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0BD6D014-D5ED-4439-AA0E-A5CC80350B36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AF786F68-E0C1-87F6-CAA1-D7C0529747C9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84A59BB0-9EC5-A147-B64B-2F71E6F494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BD21F8E-0E57-417D-94C9-72C73E2F08C2}"/>
              </a:ext>
            </a:extLst>
          </p:cNvPr>
          <p:cNvSpPr txBox="1"/>
          <p:nvPr/>
        </p:nvSpPr>
        <p:spPr>
          <a:xfrm>
            <a:off x="1074175" y="552962"/>
            <a:ext cx="632951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Erros que podem causar prejuízo</a:t>
            </a:r>
          </a:p>
          <a:p>
            <a:pPr>
              <a:buNone/>
            </a:pPr>
            <a:endParaRPr lang="pt-BR" b="1" u="sng" dirty="0"/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sz="2000" b="1" dirty="0"/>
              <a:t>Exemplo 2</a:t>
            </a:r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r>
              <a:rPr lang="pt-BR" sz="2000" dirty="0"/>
              <a:t>Comissão</a:t>
            </a:r>
          </a:p>
          <a:p>
            <a:pPr>
              <a:buNone/>
            </a:pPr>
            <a:r>
              <a:rPr lang="pt-BR" sz="2000" b="1" u="sng" dirty="0">
                <a:solidFill>
                  <a:srgbClr val="00B050"/>
                </a:solidFill>
              </a:rPr>
              <a:t>Correto</a:t>
            </a:r>
          </a:p>
          <a:p>
            <a:pPr>
              <a:buNone/>
            </a:pPr>
            <a:r>
              <a:rPr lang="pt-BR" sz="2000" dirty="0"/>
              <a:t>5%</a:t>
            </a:r>
          </a:p>
          <a:p>
            <a:pPr>
              <a:buNone/>
            </a:pPr>
            <a:r>
              <a:rPr lang="pt-BR" sz="2000" dirty="0"/>
              <a:t>Venda</a:t>
            </a:r>
          </a:p>
          <a:p>
            <a:pPr>
              <a:buNone/>
            </a:pPr>
            <a:r>
              <a:rPr lang="pt-BR" sz="2000" dirty="0"/>
              <a:t>R$ 8.000</a:t>
            </a:r>
          </a:p>
          <a:p>
            <a:pPr>
              <a:buNone/>
            </a:pPr>
            <a:r>
              <a:rPr lang="pt-BR" sz="2000" dirty="0"/>
              <a:t>Comissão</a:t>
            </a:r>
          </a:p>
          <a:p>
            <a:pPr>
              <a:buNone/>
            </a:pPr>
            <a:r>
              <a:rPr lang="pt-BR" sz="2000" dirty="0"/>
              <a:t>R$ 400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BA78871-EF81-816E-E9E2-C0282BDF1399}"/>
              </a:ext>
            </a:extLst>
          </p:cNvPr>
          <p:cNvSpPr txBox="1"/>
          <p:nvPr/>
        </p:nvSpPr>
        <p:spPr>
          <a:xfrm>
            <a:off x="1074175" y="4427601"/>
            <a:ext cx="73422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u="sng" dirty="0">
                <a:solidFill>
                  <a:srgbClr val="C00000"/>
                </a:solidFill>
              </a:rPr>
              <a:t>Digitado incorretamente</a:t>
            </a:r>
          </a:p>
          <a:p>
            <a:pPr>
              <a:buNone/>
            </a:pPr>
            <a:r>
              <a:rPr lang="pt-BR" sz="2000" dirty="0"/>
              <a:t>5</a:t>
            </a:r>
          </a:p>
          <a:p>
            <a:pPr>
              <a:buNone/>
            </a:pPr>
            <a:r>
              <a:rPr lang="pt-BR" sz="2000" dirty="0"/>
              <a:t>Resultado</a:t>
            </a:r>
          </a:p>
          <a:p>
            <a:pPr>
              <a:buNone/>
            </a:pPr>
            <a:r>
              <a:rPr lang="pt-BR" sz="2000" dirty="0"/>
              <a:t>R$ 40.000</a:t>
            </a:r>
          </a:p>
          <a:p>
            <a:pPr>
              <a:buNone/>
            </a:pPr>
            <a:r>
              <a:rPr lang="pt-BR" sz="2000" dirty="0"/>
              <a:t>➡ Um simples erro de formatação pode causar grande prejuízo financeiro.</a:t>
            </a:r>
          </a:p>
        </p:txBody>
      </p:sp>
    </p:spTree>
    <p:extLst>
      <p:ext uri="{BB962C8B-B14F-4D97-AF65-F5344CB8AC3E}">
        <p14:creationId xmlns:p14="http://schemas.microsoft.com/office/powerpoint/2010/main" val="1866793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93806D8F-741F-FA49-4E70-D23ECC39A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05A148C3-1E81-FE27-66D7-814976680BFA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0BD6D014-D5ED-4439-AA0E-A5CC80350B36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28E1236F-E89F-2A0B-193C-B614FFB4BF6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813623D-E2FE-6D27-D70E-C38D9AF4E65C}"/>
              </a:ext>
            </a:extLst>
          </p:cNvPr>
          <p:cNvSpPr txBox="1"/>
          <p:nvPr/>
        </p:nvSpPr>
        <p:spPr>
          <a:xfrm>
            <a:off x="1278194" y="816077"/>
            <a:ext cx="80108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Outros erros comuns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000" dirty="0"/>
              <a:t>❌ Datas armazenadas como texto.</a:t>
            </a:r>
          </a:p>
          <a:p>
            <a:pPr>
              <a:buNone/>
            </a:pPr>
            <a:r>
              <a:rPr lang="pt-BR" sz="2000" dirty="0"/>
              <a:t>❌ CPF perdendo o zero inicial.</a:t>
            </a:r>
          </a:p>
          <a:p>
            <a:pPr>
              <a:buNone/>
            </a:pPr>
            <a:r>
              <a:rPr lang="pt-BR" sz="2000" dirty="0"/>
              <a:t>❌ CEP incorreto.</a:t>
            </a:r>
          </a:p>
          <a:p>
            <a:pPr>
              <a:buNone/>
            </a:pPr>
            <a:r>
              <a:rPr lang="pt-BR" sz="2000" dirty="0"/>
              <a:t>❌ Telefone em formato inadequado.</a:t>
            </a:r>
          </a:p>
          <a:p>
            <a:pPr>
              <a:buNone/>
            </a:pPr>
            <a:r>
              <a:rPr lang="pt-BR" sz="2000" dirty="0"/>
              <a:t>❌ Misturar texto e números na mesma coluna.</a:t>
            </a:r>
          </a:p>
          <a:p>
            <a:pPr>
              <a:buNone/>
            </a:pPr>
            <a:endParaRPr lang="pt-BR" sz="2000" dirty="0"/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000" dirty="0"/>
              <a:t>Resultado:</a:t>
            </a:r>
          </a:p>
          <a:p>
            <a:pPr>
              <a:buNone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Relatórios incorretos.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Falhas em fórmulas.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Problemas em importações.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Informações inconsistentes. </a:t>
            </a:r>
          </a:p>
        </p:txBody>
      </p:sp>
    </p:spTree>
    <p:extLst>
      <p:ext uri="{BB962C8B-B14F-4D97-AF65-F5344CB8AC3E}">
        <p14:creationId xmlns:p14="http://schemas.microsoft.com/office/powerpoint/2010/main" val="124857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C735061-D3E2-7D19-2C26-A6810E3B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B27D3B22-2678-C610-30CA-F0763E6DBC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333513"/>
              </p:ext>
            </p:extLst>
          </p:nvPr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05A148C3-1E81-FE27-66D7-814976680BFA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038F600E-D622-1173-35DD-24C7D9114AC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AF9CCFA-5C77-6F94-169A-9EB3F4A18D68}"/>
              </a:ext>
            </a:extLst>
          </p:cNvPr>
          <p:cNvSpPr txBox="1"/>
          <p:nvPr/>
        </p:nvSpPr>
        <p:spPr>
          <a:xfrm>
            <a:off x="1064341" y="889843"/>
            <a:ext cx="79223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Organização melhora o desempenho</a:t>
            </a:r>
          </a:p>
          <a:p>
            <a:pPr>
              <a:buNone/>
            </a:pPr>
            <a:endParaRPr lang="pt-BR" dirty="0">
              <a:highlight>
                <a:srgbClr val="FFFF00"/>
              </a:highlight>
            </a:endParaRPr>
          </a:p>
          <a:p>
            <a:pPr>
              <a:buNone/>
            </a:pPr>
            <a:r>
              <a:rPr lang="pt-BR" sz="2000" dirty="0"/>
              <a:t>Uma planilha organizada é:</a:t>
            </a:r>
          </a:p>
          <a:p>
            <a:pPr>
              <a:buNone/>
            </a:pPr>
            <a:endParaRPr lang="pt-BR" sz="2000" dirty="0"/>
          </a:p>
          <a:p>
            <a:pPr>
              <a:buNone/>
            </a:pPr>
            <a:r>
              <a:rPr lang="pt-BR" sz="2000" dirty="0"/>
              <a:t>✅ Mais rápida</a:t>
            </a:r>
          </a:p>
          <a:p>
            <a:pPr>
              <a:buNone/>
            </a:pPr>
            <a:r>
              <a:rPr lang="pt-BR" sz="2000" dirty="0"/>
              <a:t>✅ Mais leve</a:t>
            </a:r>
          </a:p>
          <a:p>
            <a:pPr>
              <a:buNone/>
            </a:pPr>
            <a:r>
              <a:rPr lang="pt-BR" sz="2000" dirty="0"/>
              <a:t>✅ Mais fácil de analisar</a:t>
            </a:r>
          </a:p>
          <a:p>
            <a:pPr>
              <a:buNone/>
            </a:pPr>
            <a:endParaRPr lang="pt-BR" sz="2000" b="1" dirty="0"/>
          </a:p>
          <a:p>
            <a:pPr>
              <a:buNone/>
            </a:pPr>
            <a:endParaRPr lang="pt-BR" sz="2000" b="1" u="sng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sz="2000" b="1" u="sng" dirty="0">
                <a:solidFill>
                  <a:srgbClr val="C00000"/>
                </a:solidFill>
              </a:rPr>
              <a:t>Evite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Muitas células mescladas.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Linhas e colunas vazias em excesso.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Imagens desnecessárias.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Misturar diferentes tipos de dados na mesma coluna.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Formatações excessivas. </a:t>
            </a:r>
          </a:p>
        </p:txBody>
      </p:sp>
    </p:spTree>
    <p:extLst>
      <p:ext uri="{BB962C8B-B14F-4D97-AF65-F5344CB8AC3E}">
        <p14:creationId xmlns:p14="http://schemas.microsoft.com/office/powerpoint/2010/main" val="367256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1C549CF-C2F9-6786-5515-06A031DD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7B9F3E31-2F85-845D-067D-FEAD25BE9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7074176"/>
              </p:ext>
            </p:extLst>
          </p:nvPr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B27D3B22-2678-C610-30CA-F0763E6DBCEF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2AE8AC81-2325-8290-FC1E-979906B7FF3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C84B7DC-DBF7-DB3E-5BAC-597EF42E2F6C}"/>
              </a:ext>
            </a:extLst>
          </p:cNvPr>
          <p:cNvSpPr txBox="1"/>
          <p:nvPr/>
        </p:nvSpPr>
        <p:spPr>
          <a:xfrm>
            <a:off x="1513478" y="1062102"/>
            <a:ext cx="619923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Boas Práticas</a:t>
            </a:r>
          </a:p>
          <a:p>
            <a:pPr>
              <a:buNone/>
            </a:pPr>
            <a:endParaRPr lang="pt-BR" sz="3000" b="1" u="sng" dirty="0">
              <a:solidFill>
                <a:srgbClr val="002060"/>
              </a:solidFill>
              <a:highlight>
                <a:srgbClr val="FFFF00"/>
              </a:highlight>
            </a:endParaRPr>
          </a:p>
          <a:p>
            <a:pPr>
              <a:buNone/>
            </a:pPr>
            <a:r>
              <a:rPr lang="pt-BR" sz="2000" dirty="0"/>
              <a:t>✔ Uma coluna = um tipo de informação.</a:t>
            </a:r>
          </a:p>
          <a:p>
            <a:pPr>
              <a:buNone/>
            </a:pPr>
            <a:r>
              <a:rPr lang="pt-BR" sz="2000" dirty="0"/>
              <a:t>✔ Utilize a formatação correta.</a:t>
            </a:r>
          </a:p>
          <a:p>
            <a:pPr>
              <a:buNone/>
            </a:pPr>
            <a:r>
              <a:rPr lang="pt-BR" sz="2000" dirty="0"/>
              <a:t>✔ Padronize datas.</a:t>
            </a:r>
          </a:p>
          <a:p>
            <a:pPr>
              <a:buNone/>
            </a:pPr>
            <a:r>
              <a:rPr lang="pt-BR" sz="2000" dirty="0"/>
              <a:t>✔ Padronize moedas.</a:t>
            </a:r>
          </a:p>
          <a:p>
            <a:pPr>
              <a:buNone/>
            </a:pPr>
            <a:r>
              <a:rPr lang="pt-BR" sz="2000" dirty="0"/>
              <a:t>✔ Padronize porcentagens.</a:t>
            </a:r>
          </a:p>
          <a:p>
            <a:pPr>
              <a:buNone/>
            </a:pPr>
            <a:r>
              <a:rPr lang="pt-BR" sz="2000" dirty="0"/>
              <a:t>✔ Revise os dados antes dos cálculos.</a:t>
            </a:r>
          </a:p>
          <a:p>
            <a:pPr>
              <a:buNone/>
            </a:pPr>
            <a:r>
              <a:rPr lang="pt-BR" sz="2000" dirty="0"/>
              <a:t>✔ Utilize a IA para identificar inconsistências e sugerir melhorias.</a:t>
            </a:r>
          </a:p>
        </p:txBody>
      </p:sp>
    </p:spTree>
    <p:extLst>
      <p:ext uri="{BB962C8B-B14F-4D97-AF65-F5344CB8AC3E}">
        <p14:creationId xmlns:p14="http://schemas.microsoft.com/office/powerpoint/2010/main" val="2303881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9CD912-4232-3404-BA94-46767046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D8F607AB-DF4F-A10E-E92B-5248E7685881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7B9F3E31-2F85-845D-067D-FEAD25BE9B7D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46E8C7E7-44D6-7889-B0DA-7066F81ADE4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8C1123C-D068-EF14-1420-65B239BC9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397803"/>
              </p:ext>
            </p:extLst>
          </p:nvPr>
        </p:nvGraphicFramePr>
        <p:xfrm>
          <a:off x="870398" y="3915850"/>
          <a:ext cx="10515600" cy="1584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2806137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314153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817729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152386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14504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Comissão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1" dirty="0"/>
                        <a:t>Telefone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899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10 agosto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"350"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81999998888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474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Maria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15/08/2026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081988887777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907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Carlos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25-08-26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1200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/>
                        <a:t>998887766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7469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A9367223-C8E5-5CAE-2574-576ABA7FA3F4}"/>
              </a:ext>
            </a:extLst>
          </p:cNvPr>
          <p:cNvSpPr txBox="1"/>
          <p:nvPr/>
        </p:nvSpPr>
        <p:spPr>
          <a:xfrm>
            <a:off x="838200" y="672727"/>
            <a:ext cx="68745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000" b="1" u="sng" dirty="0">
                <a:solidFill>
                  <a:srgbClr val="002060"/>
                </a:solidFill>
                <a:highlight>
                  <a:srgbClr val="FFFF00"/>
                </a:highlight>
              </a:rPr>
              <a:t>Atividade Prática</a:t>
            </a:r>
          </a:p>
          <a:p>
            <a:pPr>
              <a:buNone/>
            </a:pPr>
            <a:endParaRPr lang="pt-BR" sz="3000" b="1" dirty="0"/>
          </a:p>
          <a:p>
            <a:pPr>
              <a:buNone/>
            </a:pPr>
            <a:r>
              <a:rPr lang="pt-BR" sz="2000" b="1" dirty="0"/>
              <a:t>Corrija os erros da planilha Desafio</a:t>
            </a:r>
          </a:p>
          <a:p>
            <a:pPr>
              <a:buNone/>
            </a:pPr>
            <a:endParaRPr lang="pt-B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Identifique os erros.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Corrija os tipos de dados.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Formate corretamente cada coluna.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Calcule a comissão das vendas. </a:t>
            </a:r>
          </a:p>
        </p:txBody>
      </p:sp>
    </p:spTree>
    <p:extLst>
      <p:ext uri="{BB962C8B-B14F-4D97-AF65-F5344CB8AC3E}">
        <p14:creationId xmlns:p14="http://schemas.microsoft.com/office/powerpoint/2010/main" val="121648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58F14E-30F1-3389-C949-C5CD9808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>
            <a:extLst>
              <a:ext uri="{FF2B5EF4-FFF2-40B4-BE49-F238E27FC236}">
                <a16:creationId xmlns:a16="http://schemas.microsoft.com/office/drawing/2014/main" id="{D2FDB1D7-AEA0-33CE-F72C-0D6B01C0F758}"/>
              </a:ext>
            </a:extLst>
          </p:cNvPr>
          <p:cNvGraphicFramePr/>
          <p:nvPr/>
        </p:nvGraphicFramePr>
        <p:xfrm>
          <a:off x="-34472" y="-91440"/>
          <a:ext cx="12260943" cy="7164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60943" imgH="7164721" progId="CorelDraw.Graphic.26">
                  <p:embed/>
                </p:oleObj>
              </mc:Choice>
              <mc:Fallback>
                <p:oleObj r:id="rId3" imgW="12260943" imgH="7164721" progId="CorelDraw.Graphic.26">
                  <p:embed/>
                  <p:pic>
                    <p:nvPicPr>
                      <p:cNvPr id="101" name="Google Shape;101;p3">
                        <a:extLst>
                          <a:ext uri="{FF2B5EF4-FFF2-40B4-BE49-F238E27FC236}">
                            <a16:creationId xmlns:a16="http://schemas.microsoft.com/office/drawing/2014/main" id="{D8F607AB-DF4F-A10E-E92B-5248E7685881}"/>
                          </a:ext>
                        </a:extLst>
                      </p:cNvPr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-34472" y="-91440"/>
                        <a:ext cx="12260943" cy="71647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" name="Google Shape;104;p3" title="Logo MPC 2026 CMYK.png">
            <a:extLst>
              <a:ext uri="{FF2B5EF4-FFF2-40B4-BE49-F238E27FC236}">
                <a16:creationId xmlns:a16="http://schemas.microsoft.com/office/drawing/2014/main" id="{6B0FCD03-FD55-33CA-BCF5-AB083872462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53189" y="672727"/>
            <a:ext cx="2832809" cy="77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A5A092C-D998-2B72-E168-910A646D8376}"/>
              </a:ext>
            </a:extLst>
          </p:cNvPr>
          <p:cNvSpPr txBox="1"/>
          <p:nvPr/>
        </p:nvSpPr>
        <p:spPr>
          <a:xfrm>
            <a:off x="1268604" y="865239"/>
            <a:ext cx="1011739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sz="3000" b="1" dirty="0">
                <a:solidFill>
                  <a:srgbClr val="002060"/>
                </a:solidFill>
                <a:highlight>
                  <a:srgbClr val="FFFF00"/>
                </a:highlight>
              </a:rPr>
              <a:t>O que aprendemos?</a:t>
            </a:r>
          </a:p>
          <a:p>
            <a:pPr>
              <a:buNone/>
            </a:pPr>
            <a:endParaRPr lang="pt-BR" sz="3000" b="1" dirty="0">
              <a:solidFill>
                <a:srgbClr val="002060"/>
              </a:solidFill>
              <a:highlight>
                <a:srgbClr val="FFFF0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O que são tipos de dados.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Quando utilizar cada tipo.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Erros mais comuns em planilhas.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Como evitar prejuízos financeiros.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Como melhorar o desempenho da planilha.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 importância da organização dos dados para análises confiáveis.</a:t>
            </a:r>
          </a:p>
          <a:p>
            <a:r>
              <a:rPr lang="pt-BR" sz="2000" dirty="0"/>
              <a:t> </a:t>
            </a:r>
          </a:p>
          <a:p>
            <a:pPr>
              <a:buNone/>
            </a:pPr>
            <a:r>
              <a:rPr lang="pt-BR" sz="2400" b="1" dirty="0"/>
              <a:t>Mensagem final:</a:t>
            </a:r>
            <a:r>
              <a:rPr lang="pt-BR" sz="2400" dirty="0"/>
              <a:t> </a:t>
            </a:r>
            <a:r>
              <a:rPr lang="pt-BR" sz="2400" i="1" dirty="0"/>
              <a:t>Uma planilha eficiente começa com dados bem organizados. Antes de criar fórmulas e gráficos, garanta que cada informação esteja no formato correto.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0656884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MP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MPC" id="{9E8FA9F7-16ED-4EF3-83AA-3A29EFC24A41}" vid="{5BFC9175-8228-40F0-9416-DF78086F75F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MPC</Template>
  <TotalTime>165</TotalTime>
  <Words>681</Words>
  <Application>Microsoft Office PowerPoint</Application>
  <PresentationFormat>Widescreen</PresentationFormat>
  <Paragraphs>258</Paragraphs>
  <Slides>16</Slides>
  <Notes>16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template MPC</vt:lpstr>
      <vt:lpstr>CorelDraw.Graphic.26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MPC-MARKETING</dc:creator>
  <cp:lastModifiedBy>klebergomesmpc@outlook.com</cp:lastModifiedBy>
  <cp:revision>8</cp:revision>
  <dcterms:created xsi:type="dcterms:W3CDTF">2026-03-13T14:54:54Z</dcterms:created>
  <dcterms:modified xsi:type="dcterms:W3CDTF">2026-07-24T13:10:41Z</dcterms:modified>
</cp:coreProperties>
</file>